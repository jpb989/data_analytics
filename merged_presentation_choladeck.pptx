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embeddedFontLst>
    <p:embeddedFont>
      <p:font typeface="Inter" panose="020B0604020202020204" charset="0"/>
      <p:regular r:id="rId10"/>
    </p:embeddedFont>
    <p:embeddedFont>
      <p:font typeface="Inter Bold" panose="020B0604020202020204" charset="0"/>
      <p:regular r:id="rId1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8873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Investigating the Impact of Data Quality &amp; Data Drift on ML Performance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15428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Intelligent Monitoring Framework</a:t>
            </a: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Final Year Data Science Project Proposal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02494"/>
            <a:ext cx="6296860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Problem: Models Don't Live in a Stable World</a:t>
            </a:r>
            <a:endParaRPr lang="en-US" sz="27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7953" y="3297833"/>
            <a:ext cx="2978869" cy="130760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63336" y="4164749"/>
            <a:ext cx="522139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b="1" kern="0" spc="-1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Historical Training</a:t>
            </a:r>
            <a:endParaRPr lang="en-US" sz="500" dirty="0"/>
          </a:p>
        </p:txBody>
      </p:sp>
      <p:sp>
        <p:nvSpPr>
          <p:cNvPr id="6" name="Text 2"/>
          <p:cNvSpPr/>
          <p:nvPr/>
        </p:nvSpPr>
        <p:spPr>
          <a:xfrm>
            <a:off x="1663336" y="4349080"/>
            <a:ext cx="522139" cy="11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data used to train models</a:t>
            </a:r>
            <a:endParaRPr lang="en-US" sz="400" dirty="0"/>
          </a:p>
        </p:txBody>
      </p:sp>
      <p:sp>
        <p:nvSpPr>
          <p:cNvPr id="7" name="Text 3"/>
          <p:cNvSpPr/>
          <p:nvPr/>
        </p:nvSpPr>
        <p:spPr>
          <a:xfrm>
            <a:off x="3129343" y="4144666"/>
            <a:ext cx="522139" cy="16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b="1" kern="0" spc="-1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Degradation</a:t>
            </a:r>
            <a:endParaRPr lang="en-US" sz="500" dirty="0"/>
          </a:p>
        </p:txBody>
      </p:sp>
      <p:sp>
        <p:nvSpPr>
          <p:cNvPr id="8" name="Text 4"/>
          <p:cNvSpPr/>
          <p:nvPr/>
        </p:nvSpPr>
        <p:spPr>
          <a:xfrm>
            <a:off x="3129343" y="4328997"/>
            <a:ext cx="522139" cy="11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may decline over time</a:t>
            </a:r>
            <a:endParaRPr lang="en-US" sz="400" dirty="0"/>
          </a:p>
        </p:txBody>
      </p:sp>
      <p:sp>
        <p:nvSpPr>
          <p:cNvPr id="9" name="Text 5"/>
          <p:cNvSpPr/>
          <p:nvPr/>
        </p:nvSpPr>
        <p:spPr>
          <a:xfrm>
            <a:off x="2400643" y="3434955"/>
            <a:ext cx="522139" cy="1613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500" b="1" kern="0" spc="-1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Changing Production</a:t>
            </a:r>
            <a:endParaRPr lang="en-US" sz="500" dirty="0"/>
          </a:p>
        </p:txBody>
      </p:sp>
      <p:sp>
        <p:nvSpPr>
          <p:cNvPr id="10" name="Text 6"/>
          <p:cNvSpPr/>
          <p:nvPr/>
        </p:nvSpPr>
        <p:spPr>
          <a:xfrm>
            <a:off x="2400643" y="3619286"/>
            <a:ext cx="522139" cy="11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400" kern="0" spc="-1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inputs: shifts, missing values</a:t>
            </a:r>
            <a:endParaRPr lang="en-US" sz="400" dirty="0"/>
          </a:p>
        </p:txBody>
      </p:sp>
      <p:sp>
        <p:nvSpPr>
          <p:cNvPr id="11" name="Text 7"/>
          <p:cNvSpPr/>
          <p:nvPr/>
        </p:nvSpPr>
        <p:spPr>
          <a:xfrm>
            <a:off x="4985518" y="2054225"/>
            <a:ext cx="197906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It Matters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4985518" y="2381945"/>
            <a:ext cx="197906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 models trained on historical data face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continuously shifting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production inputs — missing values, outliers, new categories, distribution shifts.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985518" y="3692128"/>
            <a:ext cx="1979067" cy="1055886"/>
          </a:xfrm>
          <a:prstGeom prst="roundRect">
            <a:avLst>
              <a:gd name="adj" fmla="val 5639"/>
            </a:avLst>
          </a:prstGeom>
          <a:solidFill>
            <a:srgbClr val="FCF2B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7199" y="3862189"/>
            <a:ext cx="177200" cy="14168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46080" y="3823196"/>
            <a:ext cx="137682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Detecting change ≠ knowing whether performance is harmed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4985518" y="4867573"/>
            <a:ext cx="197906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Organisations need to distinguish </a:t>
            </a:r>
            <a:r>
              <a:rPr lang="en-US" sz="1100" b="1" kern="0" spc="-2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harmful drift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from harmless variation — and know when retraining is justified.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Gap &amp; Central Question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61132"/>
            <a:ext cx="5315512" cy="53156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1058" y="3146127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b="1" kern="0" spc="-2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Gap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6221058" y="3348633"/>
            <a:ext cx="5315512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Data-quality monitoring, drift detection, and performance monitoring are treated as </a:t>
            </a:r>
            <a:r>
              <a:rPr lang="en-US" sz="75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separate tasks</a:t>
            </a: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Statistically significant drift does not necessarily imply meaningful degradation.</a:t>
            </a:r>
            <a:endParaRPr lang="en-US" sz="750" dirty="0"/>
          </a:p>
        </p:txBody>
      </p:sp>
      <p:sp>
        <p:nvSpPr>
          <p:cNvPr id="6" name="Shape 3"/>
          <p:cNvSpPr/>
          <p:nvPr/>
        </p:nvSpPr>
        <p:spPr>
          <a:xfrm>
            <a:off x="6221058" y="3665538"/>
            <a:ext cx="5315512" cy="1270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6367204" y="3804146"/>
            <a:ext cx="5169366" cy="236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"How does data-quality degradation and feature drift affect ML performance — and can combining these signals identify harmful changes more effectively?"</a:t>
            </a:r>
            <a:endParaRPr lang="en-US" sz="750" dirty="0"/>
          </a:p>
        </p:txBody>
      </p:sp>
      <p:sp>
        <p:nvSpPr>
          <p:cNvPr id="8" name="Shape 5"/>
          <p:cNvSpPr/>
          <p:nvPr/>
        </p:nvSpPr>
        <p:spPr>
          <a:xfrm>
            <a:off x="6221058" y="3759002"/>
            <a:ext cx="12700" cy="326430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62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 &amp; Scope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492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260798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240605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Baseline Model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814737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 on clean, high-quality data to establish performance benchmarks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347359" y="196492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47359" y="2260798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9" name="Text 7"/>
          <p:cNvSpPr/>
          <p:nvPr/>
        </p:nvSpPr>
        <p:spPr>
          <a:xfrm>
            <a:off x="4347359" y="240605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&amp; Quantify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47359" y="2814737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 data-quality issues and feature drift with statistical tests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33244" y="1964928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33244" y="2260798"/>
            <a:ext cx="3496877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3" name="Text 11"/>
          <p:cNvSpPr/>
          <p:nvPr/>
        </p:nvSpPr>
        <p:spPr>
          <a:xfrm>
            <a:off x="8033244" y="2406055"/>
            <a:ext cx="349687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Controlled Experiments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033244" y="2814737"/>
            <a:ext cx="349687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Introduce degradation systematically; measure performance impact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375027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046141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191397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Compare Signals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61475" y="460007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which monitoring signals best indicate harmful changes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190301" y="3750270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kern="0" spc="-45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190301" y="4046141"/>
            <a:ext cx="5339820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1" name="Text 19"/>
          <p:cNvSpPr/>
          <p:nvPr/>
        </p:nvSpPr>
        <p:spPr>
          <a:xfrm>
            <a:off x="6190301" y="4191397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Framework</a:t>
            </a:r>
            <a:endParaRPr lang="en-US" sz="1850" dirty="0"/>
          </a:p>
        </p:txBody>
      </p:sp>
      <p:sp>
        <p:nvSpPr>
          <p:cNvPr id="22" name="Text 20"/>
          <p:cNvSpPr/>
          <p:nvPr/>
        </p:nvSpPr>
        <p:spPr>
          <a:xfrm>
            <a:off x="6190301" y="4600079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an intelligent monitoring framework grounded in findings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356682" y="555922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Scope: Tabular ML · Public datasets · Controlled production simulations · Quantitative analysis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5463"/>
            <a:ext cx="10868745" cy="464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&amp; Experimental Design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523" y="1224062"/>
            <a:ext cx="9994551" cy="37504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73992" y="4064070"/>
            <a:ext cx="1507461" cy="29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Drift &amp; Quality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274179" y="3918869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Controlled Changes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384689" y="3918869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Baseline Model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3495200" y="3918869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64411" y="3918869"/>
            <a:ext cx="1507461" cy="58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00" b="1" kern="0" spc="-5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Collection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61475" y="5223073"/>
            <a:ext cx="5253005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Controlled Scenarios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61475" y="5572323"/>
            <a:ext cx="5253005" cy="719336"/>
          </a:xfrm>
          <a:prstGeom prst="rect">
            <a:avLst/>
          </a:prstGeom>
          <a:noFill/>
          <a:ln/>
        </p:spPr>
        <p:txBody>
          <a:bodyPr wrap="square" lIns="0" tIns="59482" rIns="0" bIns="0" rtlCol="0" anchor="t">
            <a:normAutofit/>
          </a:bodyPr>
          <a:lstStyle/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Increasing missingness &amp; outliers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unseen categories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Gradual &amp; sudden feature drift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283565" y="5223073"/>
            <a:ext cx="5253005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kern="0" spc="-4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 Tests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6283565" y="5572323"/>
            <a:ext cx="5253005" cy="719336"/>
          </a:xfrm>
          <a:prstGeom prst="rect">
            <a:avLst/>
          </a:prstGeom>
          <a:noFill/>
          <a:ln/>
        </p:spPr>
        <p:txBody>
          <a:bodyPr wrap="square" lIns="0" tIns="59482" rIns="0" bIns="0" rtlCol="0" anchor="t">
            <a:normAutofit/>
          </a:bodyPr>
          <a:lstStyle/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KS Test · Chi-Square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PSI · Jensen-Shannon Divergence</a:t>
            </a:r>
            <a:endParaRPr lang="en-US" sz="1150" dirty="0"/>
          </a:p>
          <a:p>
            <a:pPr marL="233680" indent="-233680" algn="l">
              <a:lnSpc>
                <a:spcPct val="119000"/>
              </a:lnSpc>
              <a:buSzPct val="100000"/>
              <a:buChar char="•"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accuracy, false alarms, timing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2889"/>
            <a:ext cx="10868745" cy="257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spc="-49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Implementation Plan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6682" y="902891"/>
            <a:ext cx="11478330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600" i="1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Investigating the Impact of Data Quality &amp; Data Drift on ML Performance: An Intelligent Monitoring Framework</a:t>
            </a:r>
            <a:endParaRPr lang="en-US" sz="6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038225"/>
            <a:ext cx="10868745" cy="10235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040382" y="1133475"/>
            <a:ext cx="519596" cy="125313"/>
          </a:xfrm>
          <a:prstGeom prst="roundRect">
            <a:avLst>
              <a:gd name="adj" fmla="val 22133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1089891" y="1158180"/>
            <a:ext cx="420578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 — SPECIFIC</a:t>
            </a:r>
            <a:endParaRPr lang="en-US" sz="500" dirty="0"/>
          </a:p>
        </p:txBody>
      </p:sp>
      <p:sp>
        <p:nvSpPr>
          <p:cNvPr id="7" name="Text 4"/>
          <p:cNvSpPr/>
          <p:nvPr/>
        </p:nvSpPr>
        <p:spPr>
          <a:xfrm>
            <a:off x="1040382" y="1273175"/>
            <a:ext cx="103945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End-to-End Monitoring Workflow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040382" y="1423789"/>
            <a:ext cx="103945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complete pipeline for one tabular ML use case: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1040382" y="1540272"/>
            <a:ext cx="10394591" cy="309761"/>
          </a:xfrm>
          <a:prstGeom prst="rect">
            <a:avLst/>
          </a:prstGeom>
          <a:noFill/>
          <a:ln/>
        </p:spPr>
        <p:txBody>
          <a:bodyPr wrap="square" lIns="0" tIns="33019" rIns="0" bIns="0" rtlCol="0" anchor="t">
            <a:normAutofit/>
          </a:bodyPr>
          <a:lstStyle/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data ingestion → validation → baseline model training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Production-data simulation → quality monitoring → drift detection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Model-performance monitoring → impact analysis → dashboard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1040382" y="1871663"/>
            <a:ext cx="103945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Monitor: missing values, outliers, invalid/unseen categories, gradual drift, sudden drift</a:t>
            </a:r>
            <a:endParaRPr lang="en-US" sz="6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97782"/>
            <a:ext cx="10868745" cy="89802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40382" y="2193032"/>
            <a:ext cx="683005" cy="125313"/>
          </a:xfrm>
          <a:prstGeom prst="roundRect">
            <a:avLst>
              <a:gd name="adj" fmla="val 22133"/>
            </a:avLst>
          </a:prstGeom>
          <a:solidFill>
            <a:srgbClr val="DADBF1"/>
          </a:solidFill>
          <a:ln/>
        </p:spPr>
      </p:sp>
      <p:sp>
        <p:nvSpPr>
          <p:cNvPr id="13" name="Text 9"/>
          <p:cNvSpPr/>
          <p:nvPr/>
        </p:nvSpPr>
        <p:spPr>
          <a:xfrm>
            <a:off x="1089891" y="2217738"/>
            <a:ext cx="583987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 — MEASURABLE</a:t>
            </a:r>
            <a:endParaRPr lang="en-US" sz="500" dirty="0"/>
          </a:p>
        </p:txBody>
      </p:sp>
      <p:sp>
        <p:nvSpPr>
          <p:cNvPr id="14" name="Text 10"/>
          <p:cNvSpPr/>
          <p:nvPr/>
        </p:nvSpPr>
        <p:spPr>
          <a:xfrm>
            <a:off x="1040382" y="2332732"/>
            <a:ext cx="103945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Concrete Metrics at Every Stage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1040382" y="2483346"/>
            <a:ext cx="10394591" cy="417215"/>
          </a:xfrm>
          <a:prstGeom prst="rect">
            <a:avLst/>
          </a:prstGeom>
          <a:noFill/>
          <a:ln/>
        </p:spPr>
        <p:txBody>
          <a:bodyPr wrap="square" lIns="0" tIns="33019" rIns="0" bIns="0" rtlCol="0" anchor="t">
            <a:normAutofit/>
          </a:bodyPr>
          <a:lstStyle/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quality: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missing-value %, duplicate %, invalid-value %, outlier %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Drift: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KS statistic/p-value (numerical), Chi-square (categorical), PSI / Jensen-Shannon divergence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ML impact: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F1, precision, recall, ROC-AUC, % performance degradation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Framework: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detection rate, false-positive rate, detection delay, drift-score vs. degradation correlation</a:t>
            </a:r>
            <a:endParaRPr lang="en-US" sz="6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31827"/>
            <a:ext cx="10868745" cy="1014512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1040382" y="3127077"/>
            <a:ext cx="629130" cy="125313"/>
          </a:xfrm>
          <a:prstGeom prst="roundRect">
            <a:avLst>
              <a:gd name="adj" fmla="val 22133"/>
            </a:avLst>
          </a:prstGeom>
          <a:solidFill>
            <a:srgbClr val="DADBF1"/>
          </a:solidFill>
          <a:ln/>
        </p:spPr>
      </p:sp>
      <p:sp>
        <p:nvSpPr>
          <p:cNvPr id="18" name="Text 13"/>
          <p:cNvSpPr/>
          <p:nvPr/>
        </p:nvSpPr>
        <p:spPr>
          <a:xfrm>
            <a:off x="1089891" y="3151783"/>
            <a:ext cx="530113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— ACHIEVABLE</a:t>
            </a:r>
            <a:endParaRPr lang="en-US" sz="500" dirty="0"/>
          </a:p>
        </p:txBody>
      </p:sp>
      <p:sp>
        <p:nvSpPr>
          <p:cNvPr id="19" name="Text 14"/>
          <p:cNvSpPr/>
          <p:nvPr/>
        </p:nvSpPr>
        <p:spPr>
          <a:xfrm>
            <a:off x="1040382" y="3266777"/>
            <a:ext cx="103945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Focused, Controlled Experiment</a:t>
            </a:r>
            <a:endParaRPr lang="en-US" sz="800" dirty="0"/>
          </a:p>
        </p:txBody>
      </p:sp>
      <p:sp>
        <p:nvSpPr>
          <p:cNvPr id="20" name="Text 15"/>
          <p:cNvSpPr/>
          <p:nvPr/>
        </p:nvSpPr>
        <p:spPr>
          <a:xfrm>
            <a:off x="1040382" y="3417391"/>
            <a:ext cx="10394591" cy="417215"/>
          </a:xfrm>
          <a:prstGeom prst="rect">
            <a:avLst/>
          </a:prstGeom>
          <a:noFill/>
          <a:ln/>
        </p:spPr>
        <p:txBody>
          <a:bodyPr wrap="square" lIns="0" tIns="33019" rIns="0" bIns="0" rtlCol="0" anchor="t">
            <a:normAutofit/>
          </a:bodyPr>
          <a:lstStyle/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well-defined tabular ML use case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primary public dataset (+ optional supplementary dataset)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baseline models: Logistic Regression, Random Forest, XGBoost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 set of statistical drift methods; controlled simulations replace real production access</a:t>
            </a:r>
            <a:endParaRPr lang="en-US" sz="600" dirty="0"/>
          </a:p>
        </p:txBody>
      </p:sp>
      <p:sp>
        <p:nvSpPr>
          <p:cNvPr id="21" name="Text 16"/>
          <p:cNvSpPr/>
          <p:nvPr/>
        </p:nvSpPr>
        <p:spPr>
          <a:xfrm>
            <a:off x="1040382" y="3856236"/>
            <a:ext cx="103945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Contribution = rigorous analysis and evaluation, not a full enterprise MLOps platform</a:t>
            </a:r>
            <a:endParaRPr lang="en-US" sz="6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82355"/>
            <a:ext cx="10868745" cy="916087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1040382" y="4177605"/>
            <a:ext cx="562755" cy="125313"/>
          </a:xfrm>
          <a:prstGeom prst="roundRect">
            <a:avLst>
              <a:gd name="adj" fmla="val 22133"/>
            </a:avLst>
          </a:prstGeom>
          <a:solidFill>
            <a:srgbClr val="DADBF1"/>
          </a:solidFill>
          <a:ln/>
        </p:spPr>
      </p:sp>
      <p:sp>
        <p:nvSpPr>
          <p:cNvPr id="24" name="Text 18"/>
          <p:cNvSpPr/>
          <p:nvPr/>
        </p:nvSpPr>
        <p:spPr>
          <a:xfrm>
            <a:off x="1089891" y="4202311"/>
            <a:ext cx="463737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 — RELEVANT</a:t>
            </a:r>
            <a:endParaRPr lang="en-US" sz="500" dirty="0"/>
          </a:p>
        </p:txBody>
      </p:sp>
      <p:sp>
        <p:nvSpPr>
          <p:cNvPr id="25" name="Text 19"/>
          <p:cNvSpPr/>
          <p:nvPr/>
        </p:nvSpPr>
        <p:spPr>
          <a:xfrm>
            <a:off x="1040382" y="4317305"/>
            <a:ext cx="103945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Actionable Business Interpretation</a:t>
            </a:r>
            <a:endParaRPr lang="en-US" sz="800" dirty="0"/>
          </a:p>
        </p:txBody>
      </p:sp>
      <p:sp>
        <p:nvSpPr>
          <p:cNvPr id="26" name="Text 20"/>
          <p:cNvSpPr/>
          <p:nvPr/>
        </p:nvSpPr>
        <p:spPr>
          <a:xfrm>
            <a:off x="1040382" y="4467920"/>
            <a:ext cx="103945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step connects to a real-world production problem: </a:t>
            </a:r>
            <a:r>
              <a:rPr lang="en-US" sz="600" i="1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detected changes threaten model reliability?</a:t>
            </a:r>
            <a:endParaRPr lang="en-US" sz="600" dirty="0"/>
          </a:p>
        </p:txBody>
      </p:sp>
      <p:sp>
        <p:nvSpPr>
          <p:cNvPr id="27" name="Text 21"/>
          <p:cNvSpPr/>
          <p:nvPr/>
        </p:nvSpPr>
        <p:spPr>
          <a:xfrm>
            <a:off x="1040382" y="4584402"/>
            <a:ext cx="10394591" cy="202307"/>
          </a:xfrm>
          <a:prstGeom prst="rect">
            <a:avLst/>
          </a:prstGeom>
          <a:noFill/>
          <a:ln/>
        </p:spPr>
        <p:txBody>
          <a:bodyPr wrap="square" lIns="0" tIns="33019" rIns="0" bIns="0" rtlCol="0" anchor="t">
            <a:normAutofit/>
          </a:bodyPr>
          <a:lstStyle/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statistical drift + little model impact → lower priority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Moderate drift + substantial degradation → immediate investigation or retraining</a:t>
            </a:r>
            <a:endParaRPr lang="en-US" sz="600" dirty="0"/>
          </a:p>
        </p:txBody>
      </p:sp>
      <p:sp>
        <p:nvSpPr>
          <p:cNvPr id="28" name="Text 22"/>
          <p:cNvSpPr/>
          <p:nvPr/>
        </p:nvSpPr>
        <p:spPr>
          <a:xfrm>
            <a:off x="1040382" y="4808339"/>
            <a:ext cx="1039459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actionable signal prioritisation, not merely drift alerts</a:t>
            </a:r>
            <a:endParaRPr lang="en-US" sz="6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34459"/>
            <a:ext cx="10868745" cy="1005483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1040382" y="5129709"/>
            <a:ext cx="651553" cy="125313"/>
          </a:xfrm>
          <a:prstGeom prst="roundRect">
            <a:avLst>
              <a:gd name="adj" fmla="val 22133"/>
            </a:avLst>
          </a:prstGeom>
          <a:solidFill>
            <a:srgbClr val="DADBF1"/>
          </a:solidFill>
          <a:ln/>
        </p:spPr>
      </p:sp>
      <p:sp>
        <p:nvSpPr>
          <p:cNvPr id="31" name="Text 24"/>
          <p:cNvSpPr/>
          <p:nvPr/>
        </p:nvSpPr>
        <p:spPr>
          <a:xfrm>
            <a:off x="1089891" y="5154414"/>
            <a:ext cx="552535" cy="75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 — TIME-BOUND</a:t>
            </a:r>
            <a:endParaRPr lang="en-US" sz="500" dirty="0"/>
          </a:p>
        </p:txBody>
      </p:sp>
      <p:sp>
        <p:nvSpPr>
          <p:cNvPr id="32" name="Text 25"/>
          <p:cNvSpPr/>
          <p:nvPr/>
        </p:nvSpPr>
        <p:spPr>
          <a:xfrm>
            <a:off x="1040382" y="5269409"/>
            <a:ext cx="10394591" cy="128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b="1" kern="0" spc="-24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Sequential Project Phases</a:t>
            </a:r>
            <a:endParaRPr lang="en-US" sz="800" dirty="0"/>
          </a:p>
        </p:txBody>
      </p:sp>
      <p:sp>
        <p:nvSpPr>
          <p:cNvPr id="33" name="Text 26"/>
          <p:cNvSpPr/>
          <p:nvPr/>
        </p:nvSpPr>
        <p:spPr>
          <a:xfrm>
            <a:off x="1040382" y="5420023"/>
            <a:ext cx="10394591" cy="524669"/>
          </a:xfrm>
          <a:prstGeom prst="rect">
            <a:avLst/>
          </a:prstGeom>
          <a:noFill/>
          <a:ln/>
        </p:spPr>
        <p:txBody>
          <a:bodyPr wrap="square" lIns="0" tIns="33019" rIns="0" bIns="0" rtlCol="0" anchor="t">
            <a:normAutofit/>
          </a:bodyPr>
          <a:lstStyle/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1: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 acquisition, cleaning, validation &amp; EDA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2: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Feature engineering, model training &amp; evaluation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3: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Controlled degradation &amp; drift experiments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4: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Statistical analysis — data changes vs. model degradation</a:t>
            </a:r>
            <a:endParaRPr lang="en-US" sz="600" dirty="0"/>
          </a:p>
          <a:p>
            <a:pPr marL="121920" indent="-121920" algn="l">
              <a:lnSpc>
                <a:spcPct val="96000"/>
              </a:lnSpc>
              <a:buSzPct val="100000"/>
              <a:buChar char="•"/>
            </a:pPr>
            <a:r>
              <a:rPr lang="en-US" sz="600" b="1" kern="0" spc="-13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Phase 5:</a:t>
            </a:r>
            <a:r>
              <a:rPr lang="en-US" sz="600" kern="0" spc="-1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Monitoring framework, dashboard, evaluation &amp; final findings</a:t>
            </a:r>
            <a:endParaRPr lang="en-US" sz="600" dirty="0"/>
          </a:p>
        </p:txBody>
      </p:sp>
      <p:sp>
        <p:nvSpPr>
          <p:cNvPr id="34" name="Shape 27"/>
          <p:cNvSpPr/>
          <p:nvPr/>
        </p:nvSpPr>
        <p:spPr>
          <a:xfrm>
            <a:off x="661475" y="6080423"/>
            <a:ext cx="10868745" cy="204589"/>
          </a:xfrm>
          <a:prstGeom prst="roundRect">
            <a:avLst>
              <a:gd name="adj" fmla="val 16946"/>
            </a:avLst>
          </a:prstGeom>
          <a:solidFill>
            <a:srgbClr val="B6FCB8"/>
          </a:solidFill>
          <a:ln/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023" y="6137077"/>
            <a:ext cx="103185" cy="8255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29756" y="6137077"/>
            <a:ext cx="11127501" cy="94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00" b="1" kern="0" spc="-1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Research Output:</a:t>
            </a:r>
            <a:r>
              <a:rPr lang="en-US" sz="600" kern="0" spc="-13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Empirical evidence identifying which data changes matter most, which monitoring signals are genuinely useful, and a lightweight prioritisation framework for distinguishing harmful drift from benign distributional shifts.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1824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kern="0" spc="-112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Expected Insights &amp; Contribution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86917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6832" y="1882279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🔍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Empirical Evidence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6832" y="2290961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degradation types cause the largest performance loss?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1686917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5658" y="1882279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📊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Signal Reliability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85658" y="2290961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Does significant drift actually predict harmful model degradation?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280172"/>
            <a:ext cx="5339820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6832" y="3475534"/>
            <a:ext cx="49491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⏱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Early Detection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6832" y="3884216"/>
            <a:ext cx="49491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early can harmful changes be identified before impact is severe?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280172"/>
            <a:ext cx="5339919" cy="1404243"/>
          </a:xfrm>
          <a:prstGeom prst="roundRect">
            <a:avLst>
              <a:gd name="adj" fmla="val 565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5658" y="3475534"/>
            <a:ext cx="49492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kern="0" spc="-56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🛠</a:t>
            </a:r>
            <a:r>
              <a:rPr lang="en-US" sz="1850" b="1" kern="0" spc="-56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Practical Framework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85658" y="3884216"/>
            <a:ext cx="49492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Prioritise impactful changes — not every detected statistical deviation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44936" y="5109666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the change → Measure the impact → Understand whether it matters.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61475" y="4897041"/>
            <a:ext cx="25399" cy="727670"/>
          </a:xfrm>
          <a:prstGeom prst="roundRect">
            <a:avLst>
              <a:gd name="adj" fmla="val 50001"/>
            </a:avLst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356682" y="583733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i="1" kern="0" spc="-3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industry problem · Measurable objectives · Quantitative experimental methodology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714</Words>
  <Application>Microsoft Office PowerPoint</Application>
  <PresentationFormat>Widescreen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Inter Bold</vt:lpstr>
      <vt:lpstr>Twemoji Mozilla</vt:lpstr>
      <vt:lpstr>Arial</vt:lpstr>
      <vt:lpstr>Inter</vt:lpstr>
      <vt:lpstr>Calibri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Joshua Paul</cp:lastModifiedBy>
  <cp:revision>2</cp:revision>
  <dcterms:created xsi:type="dcterms:W3CDTF">2026-08-29T05:43:38Z</dcterms:created>
  <dcterms:modified xsi:type="dcterms:W3CDTF">2026-08-29T06:23:15Z</dcterms:modified>
</cp:coreProperties>
</file>